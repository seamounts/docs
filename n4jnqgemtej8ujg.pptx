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 Light"/>
      <p:regular r:id="rId17"/>
    </p:embeddedFont>
    <p:embeddedFont>
      <p:font typeface="Kanit Light"/>
      <p:regular r:id="rId18"/>
    </p:embeddedFont>
    <p:embeddedFont>
      <p:font typeface="Kanit Light"/>
      <p:regular r:id="rId19"/>
    </p:embeddedFont>
    <p:embeddedFont>
      <p:font typeface="Kanit Light"/>
      <p:regular r:id="rId20"/>
    </p:embeddedFont>
    <p:embeddedFont>
      <p:font typeface="Martel Sans"/>
      <p:regular r:id="rId21"/>
    </p:embeddedFont>
    <p:embeddedFont>
      <p:font typeface="Mart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86351"/>
            <a:ext cx="7370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多集群容器服务平台建设方案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85855"/>
            <a:ext cx="5950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从单集群自动化到多集群统一调度与混合云管理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803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内部技术方案汇报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622340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当前的集群管理模式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0218" y="1666518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3580" y="189988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独立管理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3580" y="2387918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所有集群各自为政,缺乏统一协调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0218" y="3208139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3580" y="344150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依赖工具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3580" y="3929539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服务部署依赖Argo Flow/ArgoCD,每个集群单独配置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0218" y="4749760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3580" y="498312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手工操作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3580" y="5471160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自建集群没有自动化,创建升级靠人工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0218" y="6291382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3580" y="652474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管理分散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3580" y="7012781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没有统一运维入口,可见性差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616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784" y="588288"/>
            <a:ext cx="5348764" cy="668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单集群管理模式的痛点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8784" y="1818323"/>
            <a:ext cx="3562231" cy="1728907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8304" y="1818323"/>
            <a:ext cx="121920" cy="1728907"/>
          </a:xfrm>
          <a:prstGeom prst="roundRect">
            <a:avLst>
              <a:gd name="adj" fmla="val 73704"/>
            </a:avLst>
          </a:prstGeom>
          <a:solidFill>
            <a:srgbClr val="437066"/>
          </a:solidFill>
          <a:ln/>
        </p:spPr>
      </p:sp>
      <p:sp>
        <p:nvSpPr>
          <p:cNvPr id="6" name="Text 3"/>
          <p:cNvSpPr/>
          <p:nvPr/>
        </p:nvSpPr>
        <p:spPr>
          <a:xfrm>
            <a:off x="1084540" y="2062639"/>
            <a:ext cx="2674382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🚧</a:t>
            </a:r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扩展性差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84540" y="2618303"/>
            <a:ext cx="2982158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集群越来越多,手动管理完全扛不住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8784" y="3761065"/>
            <a:ext cx="3562231" cy="1728907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8304" y="3761065"/>
            <a:ext cx="121920" cy="1728907"/>
          </a:xfrm>
          <a:prstGeom prst="roundRect">
            <a:avLst>
              <a:gd name="adj" fmla="val 73704"/>
            </a:avLst>
          </a:prstGeom>
          <a:solidFill>
            <a:srgbClr val="437066"/>
          </a:solidFill>
          <a:ln/>
        </p:spPr>
      </p:sp>
      <p:sp>
        <p:nvSpPr>
          <p:cNvPr id="10" name="Text 7"/>
          <p:cNvSpPr/>
          <p:nvPr/>
        </p:nvSpPr>
        <p:spPr>
          <a:xfrm>
            <a:off x="1084540" y="4005382"/>
            <a:ext cx="2674382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⚙️</a:t>
            </a:r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效率低、风险高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84540" y="4561046"/>
            <a:ext cx="2982158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自建集群升级、配置更新靠人,容易出错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48784" y="5703808"/>
            <a:ext cx="3562231" cy="1728907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8304" y="5703808"/>
            <a:ext cx="121920" cy="1728907"/>
          </a:xfrm>
          <a:prstGeom prst="roundRect">
            <a:avLst>
              <a:gd name="adj" fmla="val 73704"/>
            </a:avLst>
          </a:prstGeom>
          <a:solidFill>
            <a:srgbClr val="437066"/>
          </a:solidFill>
          <a:ln/>
        </p:spPr>
      </p:sp>
      <p:sp>
        <p:nvSpPr>
          <p:cNvPr id="14" name="Text 11"/>
          <p:cNvSpPr/>
          <p:nvPr/>
        </p:nvSpPr>
        <p:spPr>
          <a:xfrm>
            <a:off x="1084540" y="5948124"/>
            <a:ext cx="2674382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🧩</a:t>
            </a:r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资源碎片化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84540" y="6503789"/>
            <a:ext cx="2982158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不同集群资源利用率不均,无法统一调度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4840605" y="1818323"/>
            <a:ext cx="3562231" cy="1728907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10125" y="1818323"/>
            <a:ext cx="121920" cy="1728907"/>
          </a:xfrm>
          <a:prstGeom prst="roundRect">
            <a:avLst>
              <a:gd name="adj" fmla="val 73704"/>
            </a:avLst>
          </a:prstGeom>
          <a:solidFill>
            <a:srgbClr val="437066"/>
          </a:solidFill>
          <a:ln/>
        </p:spPr>
      </p:sp>
      <p:sp>
        <p:nvSpPr>
          <p:cNvPr id="18" name="Text 15"/>
          <p:cNvSpPr/>
          <p:nvPr/>
        </p:nvSpPr>
        <p:spPr>
          <a:xfrm>
            <a:off x="5176361" y="2062639"/>
            <a:ext cx="2674382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🕸️</a:t>
            </a:r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缺乏统一视角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5176361" y="2618303"/>
            <a:ext cx="2982158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无法集中查看集群健康、风险、告警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4840605" y="3761065"/>
            <a:ext cx="3562231" cy="1728907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10125" y="3761065"/>
            <a:ext cx="121920" cy="1728907"/>
          </a:xfrm>
          <a:prstGeom prst="roundRect">
            <a:avLst>
              <a:gd name="adj" fmla="val 73704"/>
            </a:avLst>
          </a:prstGeom>
          <a:solidFill>
            <a:srgbClr val="437066"/>
          </a:solidFill>
          <a:ln/>
        </p:spPr>
      </p:sp>
      <p:sp>
        <p:nvSpPr>
          <p:cNvPr id="22" name="Text 19"/>
          <p:cNvSpPr/>
          <p:nvPr/>
        </p:nvSpPr>
        <p:spPr>
          <a:xfrm>
            <a:off x="5176361" y="4005382"/>
            <a:ext cx="2674382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💥</a:t>
            </a:r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无法支持多云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5176361" y="4561046"/>
            <a:ext cx="2982158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未来接入多云厂商、自建集群会变得极度复杂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3745" y="524351"/>
            <a:ext cx="4766905" cy="595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平台建设目标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153745" y="1406247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我们希望建设一个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混合云多集群容器服务平台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,实现以下核心目标: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153745" y="1925598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53745" y="2226707"/>
            <a:ext cx="780930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7" name="Text 4"/>
          <p:cNvSpPr/>
          <p:nvPr/>
        </p:nvSpPr>
        <p:spPr>
          <a:xfrm>
            <a:off x="6153745" y="2367677"/>
            <a:ext cx="2859048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提高单集群自动化运维能力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153745" y="2779871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降低自建集群管理成本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745" y="3418403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3745" y="3719513"/>
            <a:ext cx="780930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1" name="Text 8"/>
          <p:cNvSpPr/>
          <p:nvPr/>
        </p:nvSpPr>
        <p:spPr>
          <a:xfrm>
            <a:off x="6153745" y="3860483"/>
            <a:ext cx="3097292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实现多集群统一纳管与可观测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153745" y="4272677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集中治理与巡检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745" y="4911209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53745" y="5212318"/>
            <a:ext cx="780930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5" name="Text 12"/>
          <p:cNvSpPr/>
          <p:nvPr/>
        </p:nvSpPr>
        <p:spPr>
          <a:xfrm>
            <a:off x="6153745" y="5353288"/>
            <a:ext cx="3335536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支持多集群应用统一调度与分发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153745" y="5765483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实现跨集群弹性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745" y="6404015"/>
            <a:ext cx="19061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53745" y="6705124"/>
            <a:ext cx="7809309" cy="2286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9" name="Text 16"/>
          <p:cNvSpPr/>
          <p:nvPr/>
        </p:nvSpPr>
        <p:spPr>
          <a:xfrm>
            <a:off x="6153745" y="6846094"/>
            <a:ext cx="3335536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实现混合云资源弹性与成本优化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6153745" y="7258288"/>
            <a:ext cx="780930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云上弹性+自建保底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79959"/>
            <a:ext cx="86027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方向一:单集群生命周期自动化管理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9463"/>
            <a:ext cx="537329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通过Cluster API实现标准化集群管理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524898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使用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CAPI(Cluster API)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统一管理集群生命周期: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81596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支持标准化的集群创建、升级、扩缩容、删除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25816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自动化机器节点管理与健康检测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70036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自建集群纳管后,支持模板化集群配置与版本统一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714255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提升集群交付效率,减少人工操作风险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5300067"/>
            <a:ext cx="4885015" cy="1893689"/>
          </a:xfrm>
          <a:prstGeom prst="roundRect">
            <a:avLst>
              <a:gd name="adj" fmla="val 5031"/>
            </a:avLst>
          </a:prstGeom>
          <a:solidFill>
            <a:srgbClr val="CFE2D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5613678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5583555"/>
            <a:ext cx="39210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核心价值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9696212" y="6150531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从"人工维护集群"转向"声明式集群管理"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289"/>
            <a:ext cx="9169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方向二:多集群统一纳管与可观测治理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279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实现多集群统一管理面</a:t>
            </a:r>
            <a:endParaRPr lang="en-US" sz="2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11824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统一管理中心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3743325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统一接入自建与云上集群,一处登录全局可见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11824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可观测能力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3743325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监控、日志、巡检、告警统一展示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55985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4694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健康状态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5184934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集群健康、资源使用、风险报告集中呈现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55985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4694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安全管控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5184934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统一RBAC、审计、安全管控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1133951" y="6058138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价值: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集群治理集中化、透明化,极大降低运维复杂度</a:t>
            </a:r>
            <a:endParaRPr lang="en-US" sz="1750" dirty="0"/>
          </a:p>
        </p:txBody>
      </p:sp>
      <p:sp>
        <p:nvSpPr>
          <p:cNvPr id="17" name="Shape 11"/>
          <p:cNvSpPr/>
          <p:nvPr/>
        </p:nvSpPr>
        <p:spPr>
          <a:xfrm>
            <a:off x="793790" y="5802987"/>
            <a:ext cx="30480" cy="873204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9735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97358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19735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2569" y="2408277"/>
            <a:ext cx="5988725" cy="49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方向三:多集群应用调度与发布管理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552569" y="2964656"/>
            <a:ext cx="3540681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通过Karmada实现多集群容器调度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52569" y="3497461"/>
            <a:ext cx="13525262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Karmada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提供跨集群统一控制面,支持: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69" y="3927515"/>
            <a:ext cx="6762631" cy="6315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0446" y="4716899"/>
            <a:ext cx="1973580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应用编排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710446" y="5058251"/>
            <a:ext cx="6446877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跨集群应用编排与一键分发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927515"/>
            <a:ext cx="6762631" cy="6315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73077" y="4716899"/>
            <a:ext cx="1973580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灰度发布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7473077" y="5058251"/>
            <a:ext cx="6446877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多集群灰度发布、版本管控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69" y="5468660"/>
            <a:ext cx="6762631" cy="63150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0446" y="6258044"/>
            <a:ext cx="1973580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容灾切换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710446" y="6599396"/>
            <a:ext cx="6446877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故障自动漂移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468660"/>
            <a:ext cx="6762631" cy="63150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473077" y="6258044"/>
            <a:ext cx="1973580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流量分发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7473077" y="6599396"/>
            <a:ext cx="6446877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跨集群流量分发与弹性扩缩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789384" y="7364849"/>
            <a:ext cx="13288447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价值: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让多集群像一个"大集群"一样统一使用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552569" y="7187327"/>
            <a:ext cx="22860" cy="607576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437" y="355521"/>
            <a:ext cx="4579858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方向四:多云资源弹性与成本优化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2437" y="811173"/>
            <a:ext cx="3140512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混合云策略,实现资源弹性与成本最优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437" y="1392793"/>
            <a:ext cx="22860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80459" y="1392793"/>
            <a:ext cx="6705124" cy="1328499"/>
          </a:xfrm>
          <a:prstGeom prst="roundRect">
            <a:avLst>
              <a:gd name="adj" fmla="val 4088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17262" y="1529596"/>
            <a:ext cx="387787" cy="387787"/>
          </a:xfrm>
          <a:prstGeom prst="roundRect">
            <a:avLst>
              <a:gd name="adj" fmla="val 23577597"/>
            </a:avLst>
          </a:prstGeom>
          <a:solidFill>
            <a:srgbClr val="43706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3942" y="1636157"/>
            <a:ext cx="174427" cy="1744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17262" y="2046565"/>
            <a:ext cx="1616035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云上弹性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617262" y="2377678"/>
            <a:ext cx="6431518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高峰时快速扩容,低峰时释放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480459" y="2850475"/>
            <a:ext cx="6705124" cy="1328499"/>
          </a:xfrm>
          <a:prstGeom prst="roundRect">
            <a:avLst>
              <a:gd name="adj" fmla="val 4088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17262" y="2987278"/>
            <a:ext cx="387787" cy="387787"/>
          </a:xfrm>
          <a:prstGeom prst="roundRect">
            <a:avLst>
              <a:gd name="adj" fmla="val 23577597"/>
            </a:avLst>
          </a:prstGeom>
          <a:solidFill>
            <a:srgbClr val="43706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3942" y="3093839"/>
            <a:ext cx="174427" cy="1744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17262" y="3504248"/>
            <a:ext cx="1616035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自建保底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7617262" y="3835360"/>
            <a:ext cx="6431518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稳定支撑核心业务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480459" y="4308158"/>
            <a:ext cx="6705124" cy="1328499"/>
          </a:xfrm>
          <a:prstGeom prst="roundRect">
            <a:avLst>
              <a:gd name="adj" fmla="val 4088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17262" y="4444960"/>
            <a:ext cx="387787" cy="387787"/>
          </a:xfrm>
          <a:prstGeom prst="roundRect">
            <a:avLst>
              <a:gd name="adj" fmla="val 23577597"/>
            </a:avLst>
          </a:prstGeom>
          <a:solidFill>
            <a:srgbClr val="43706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23942" y="4551521"/>
            <a:ext cx="174427" cy="1744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17262" y="4961930"/>
            <a:ext cx="1616035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多云接入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617262" y="5293043"/>
            <a:ext cx="6431518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避免云厂商绑定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480459" y="5765840"/>
            <a:ext cx="6705124" cy="1328499"/>
          </a:xfrm>
          <a:prstGeom prst="roundRect">
            <a:avLst>
              <a:gd name="adj" fmla="val 4088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617262" y="5902643"/>
            <a:ext cx="387787" cy="387787"/>
          </a:xfrm>
          <a:prstGeom prst="roundRect">
            <a:avLst>
              <a:gd name="adj" fmla="val 23577597"/>
            </a:avLst>
          </a:prstGeom>
          <a:solidFill>
            <a:srgbClr val="43706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3942" y="6009203"/>
            <a:ext cx="174427" cy="1744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17262" y="6419612"/>
            <a:ext cx="1616035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成本优化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617262" y="6750725"/>
            <a:ext cx="6431518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智能资源分配与成本分析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46271" y="7530465"/>
            <a:ext cx="13531691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价值: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灵活调度、降低成本、保障业务稳定性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52437" y="7385090"/>
            <a:ext cx="15240" cy="497562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108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建设完成后的收益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7315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80%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340494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效率提升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9536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集群生命周期管理自动化,减少人工操作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237315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100%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340494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可见性提升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389536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所有集群状态集中可观测,问题发现更快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237315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3X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340494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弹性增强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389536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多云调度支持按需扩缩,业务资源更灵活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4989704"/>
            <a:ext cx="7556421" cy="35957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55075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成本下降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3790" y="608873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混合云资源优化配置,降低云上冗余成本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56321" y="55075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风险降低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856321" y="608873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版本统一、策略集中,降低集群运维风险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471" y="1612702"/>
            <a:ext cx="7709059" cy="2562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50"/>
              </a:lnSpc>
              <a:buNone/>
            </a:pPr>
            <a:r>
              <a:rPr lang="en-US" sz="8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从分散走向统一</a:t>
            </a:r>
            <a:pPr algn="l" indent="0" marL="0">
              <a:lnSpc>
                <a:spcPts val="10050"/>
              </a:lnSpc>
              <a:buNone/>
            </a:pPr>
            <a:r>
              <a:rPr lang="en-US" sz="8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从手动走向智能</a:t>
            </a:r>
            <a:endParaRPr lang="en-US" sz="8050" dirty="0"/>
          </a:p>
        </p:txBody>
      </p:sp>
      <p:sp>
        <p:nvSpPr>
          <p:cNvPr id="4" name="Shape 1"/>
          <p:cNvSpPr/>
          <p:nvPr/>
        </p:nvSpPr>
        <p:spPr>
          <a:xfrm>
            <a:off x="717471" y="4585274"/>
            <a:ext cx="7709059" cy="33218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024890" y="5156478"/>
            <a:ext cx="7401639" cy="115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"通过CAPI + Karmada打造统一的多集群容器服务平台,实现自动化、标准化、智能化的集群运维与多云调度能力。"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17471" y="4849058"/>
            <a:ext cx="22860" cy="1767840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2025-11-03T16:34:21Z</dcterms:created>
  <dcterms:modified xsi:type="dcterms:W3CDTF">2025-11-03T16:34:21Z</dcterms:modified>
</cp:coreProperties>
</file>