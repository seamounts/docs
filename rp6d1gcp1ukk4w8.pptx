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4630400" cy="8229600"/>
  <p:notesSz cx="8229600" cy="14630400"/>
  <p:embeddedFontLst>
    <p:embeddedFont>
      <p:font typeface="Kanit Light"/>
      <p:regular r:id="rId16"/>
    </p:embeddedFont>
    <p:embeddedFont>
      <p:font typeface="Kanit Light"/>
      <p:regular r:id="rId17"/>
    </p:embeddedFont>
    <p:embeddedFont>
      <p:font typeface="Kanit Light"/>
      <p:regular r:id="rId18"/>
    </p:embeddedFont>
    <p:embeddedFont>
      <p:font typeface="Kanit Light"/>
      <p:regular r:id="rId19"/>
    </p:embeddedFont>
    <p:embeddedFont>
      <p:font typeface="Martel Sans"/>
      <p:regular r:id="rId20"/>
    </p:embeddedFont>
    <p:embeddedFont>
      <p:font typeface="Martel Sans"/>
      <p:regular r:id="rId21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Relationship Id="rId16" Type="http://schemas.openxmlformats.org/officeDocument/2006/relationships/font" Target="fonts/font1.fntdata"/><Relationship Id="rId17" Type="http://schemas.openxmlformats.org/officeDocument/2006/relationships/font" Target="fonts/font2.fntdata"/><Relationship Id="rId18" Type="http://schemas.openxmlformats.org/officeDocument/2006/relationships/font" Target="fonts/font3.fntdata"/><Relationship Id="rId19" Type="http://schemas.openxmlformats.org/officeDocument/2006/relationships/font" Target="fonts/font4.fntdata"/><Relationship Id="rId20" Type="http://schemas.openxmlformats.org/officeDocument/2006/relationships/font" Target="fonts/font5.fntdata"/><Relationship Id="rId21" Type="http://schemas.openxmlformats.org/officeDocument/2006/relationships/font" Target="fonts/font6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3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3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3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7-1.png"/><Relationship Id="rId3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8-1.png"/><Relationship Id="rId3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9-1.png"/><Relationship Id="rId3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0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BF4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BF4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BF4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BF4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BF4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BF4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BF4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BF4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BF4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svg"/><Relationship Id="rId3" Type="http://schemas.openxmlformats.org/officeDocument/2006/relationships/image" Target="../media/image-4-3.png"/><Relationship Id="rId4" Type="http://schemas.openxmlformats.org/officeDocument/2006/relationships/image" Target="../media/image-4-4.svg"/><Relationship Id="rId5" Type="http://schemas.openxmlformats.org/officeDocument/2006/relationships/image" Target="../media/image-4-5.png"/><Relationship Id="rId6" Type="http://schemas.openxmlformats.org/officeDocument/2006/relationships/image" Target="../media/image-4-6.svg"/><Relationship Id="rId7" Type="http://schemas.openxmlformats.org/officeDocument/2006/relationships/image" Target="../media/image-4-7.png"/><Relationship Id="rId8" Type="http://schemas.openxmlformats.org/officeDocument/2006/relationships/image" Target="../media/image-4-8.svg"/><Relationship Id="rId9" Type="http://schemas.openxmlformats.org/officeDocument/2006/relationships/slideLayout" Target="../slideLayouts/slideLayout5.xml"/><Relationship Id="rId10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7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slideLayout" Target="../slideLayouts/slideLayout8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3043118"/>
            <a:ext cx="907161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混合云多集群容器服务平台建设方案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4205526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从单集群运维走向多云统一调度的体系化升级</a:t>
            </a:r>
            <a:endParaRPr lang="en-US" sz="1750" dirty="0"/>
          </a:p>
        </p:txBody>
      </p:sp>
      <p:sp>
        <p:nvSpPr>
          <p:cNvPr id="4" name="Text 2"/>
          <p:cNvSpPr/>
          <p:nvPr/>
        </p:nvSpPr>
        <p:spPr>
          <a:xfrm>
            <a:off x="793790" y="4823579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内部技术汇报｜平台架构组｜2025年</a:t>
            </a:r>
            <a:endParaRPr lang="en-US" sz="1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052280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当前的集群管理模式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93790" y="3214688"/>
            <a:ext cx="6407944" cy="1367909"/>
          </a:xfrm>
          <a:prstGeom prst="roundRect">
            <a:avLst>
              <a:gd name="adj" fmla="val 10695"/>
            </a:avLst>
          </a:prstGeom>
          <a:solidFill>
            <a:srgbClr val="FFFFFF"/>
          </a:solidFill>
          <a:ln w="30480">
            <a:solidFill>
              <a:srgbClr val="43706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63310" y="3214688"/>
            <a:ext cx="121920" cy="1367909"/>
          </a:xfrm>
          <a:prstGeom prst="roundRect">
            <a:avLst>
              <a:gd name="adj" fmla="val 78139"/>
            </a:avLst>
          </a:prstGeom>
          <a:solidFill>
            <a:srgbClr val="437066"/>
          </a:solidFill>
          <a:ln/>
        </p:spPr>
      </p:sp>
      <p:sp>
        <p:nvSpPr>
          <p:cNvPr id="5" name="Text 3"/>
          <p:cNvSpPr/>
          <p:nvPr/>
        </p:nvSpPr>
        <p:spPr>
          <a:xfrm>
            <a:off x="1142524" y="347198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独立管理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142524" y="3962400"/>
            <a:ext cx="580191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所有集群各自为政,缺乏统一协调</a:t>
            </a:r>
            <a:endParaRPr lang="en-US" sz="1750" dirty="0"/>
          </a:p>
        </p:txBody>
      </p:sp>
      <p:sp>
        <p:nvSpPr>
          <p:cNvPr id="7" name="Shape 5"/>
          <p:cNvSpPr/>
          <p:nvPr/>
        </p:nvSpPr>
        <p:spPr>
          <a:xfrm>
            <a:off x="7428548" y="3214688"/>
            <a:ext cx="6408063" cy="1367909"/>
          </a:xfrm>
          <a:prstGeom prst="roundRect">
            <a:avLst>
              <a:gd name="adj" fmla="val 10695"/>
            </a:avLst>
          </a:prstGeom>
          <a:solidFill>
            <a:srgbClr val="FFFFFF"/>
          </a:solidFill>
          <a:ln w="30480">
            <a:solidFill>
              <a:srgbClr val="43706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98067" y="3214688"/>
            <a:ext cx="121920" cy="1367909"/>
          </a:xfrm>
          <a:prstGeom prst="roundRect">
            <a:avLst>
              <a:gd name="adj" fmla="val 78139"/>
            </a:avLst>
          </a:prstGeom>
          <a:solidFill>
            <a:srgbClr val="437066"/>
          </a:solidFill>
          <a:ln/>
        </p:spPr>
      </p:sp>
      <p:sp>
        <p:nvSpPr>
          <p:cNvPr id="9" name="Text 7"/>
          <p:cNvSpPr/>
          <p:nvPr/>
        </p:nvSpPr>
        <p:spPr>
          <a:xfrm>
            <a:off x="7777282" y="347198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手动部署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7777282" y="3962400"/>
            <a:ext cx="580203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依赖Argo Flow/ArgoCD,每个集群单独配置</a:t>
            </a:r>
            <a:endParaRPr lang="en-US" sz="1750" dirty="0"/>
          </a:p>
        </p:txBody>
      </p:sp>
      <p:sp>
        <p:nvSpPr>
          <p:cNvPr id="11" name="Shape 9"/>
          <p:cNvSpPr/>
          <p:nvPr/>
        </p:nvSpPr>
        <p:spPr>
          <a:xfrm>
            <a:off x="793790" y="4809411"/>
            <a:ext cx="6407944" cy="1367909"/>
          </a:xfrm>
          <a:prstGeom prst="roundRect">
            <a:avLst>
              <a:gd name="adj" fmla="val 10695"/>
            </a:avLst>
          </a:prstGeom>
          <a:solidFill>
            <a:srgbClr val="FFFFFF"/>
          </a:solidFill>
          <a:ln w="30480">
            <a:solidFill>
              <a:srgbClr val="43706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63310" y="4809411"/>
            <a:ext cx="121920" cy="1367909"/>
          </a:xfrm>
          <a:prstGeom prst="roundRect">
            <a:avLst>
              <a:gd name="adj" fmla="val 78139"/>
            </a:avLst>
          </a:prstGeom>
          <a:solidFill>
            <a:srgbClr val="437066"/>
          </a:solidFill>
          <a:ln/>
        </p:spPr>
      </p:sp>
      <p:sp>
        <p:nvSpPr>
          <p:cNvPr id="13" name="Text 11"/>
          <p:cNvSpPr/>
          <p:nvPr/>
        </p:nvSpPr>
        <p:spPr>
          <a:xfrm>
            <a:off x="1142524" y="506670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运维困境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142524" y="5557123"/>
            <a:ext cx="580191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自建集群无自动化,升级配置全靠人工</a:t>
            </a:r>
            <a:endParaRPr lang="en-US" sz="1750" dirty="0"/>
          </a:p>
        </p:txBody>
      </p:sp>
      <p:sp>
        <p:nvSpPr>
          <p:cNvPr id="15" name="Shape 13"/>
          <p:cNvSpPr/>
          <p:nvPr/>
        </p:nvSpPr>
        <p:spPr>
          <a:xfrm>
            <a:off x="7428548" y="4809411"/>
            <a:ext cx="6408063" cy="1367909"/>
          </a:xfrm>
          <a:prstGeom prst="roundRect">
            <a:avLst>
              <a:gd name="adj" fmla="val 10695"/>
            </a:avLst>
          </a:prstGeom>
          <a:solidFill>
            <a:srgbClr val="FFFFFF"/>
          </a:solidFill>
          <a:ln w="30480">
            <a:solidFill>
              <a:srgbClr val="43706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398067" y="4809411"/>
            <a:ext cx="121920" cy="1367909"/>
          </a:xfrm>
          <a:prstGeom prst="roundRect">
            <a:avLst>
              <a:gd name="adj" fmla="val 78139"/>
            </a:avLst>
          </a:prstGeom>
          <a:solidFill>
            <a:srgbClr val="437066"/>
          </a:solidFill>
          <a:ln/>
        </p:spPr>
      </p:sp>
      <p:sp>
        <p:nvSpPr>
          <p:cNvPr id="17" name="Text 15"/>
          <p:cNvSpPr/>
          <p:nvPr/>
        </p:nvSpPr>
        <p:spPr>
          <a:xfrm>
            <a:off x="7777282" y="506670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扩展瓶颈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7777282" y="5557123"/>
            <a:ext cx="580203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集群增多导致效率低、风险高、协同难</a:t>
            </a:r>
            <a:endParaRPr lang="en-US" sz="1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901303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单集群独立管理的痛点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93790" y="2325886"/>
            <a:ext cx="113348" cy="113348"/>
          </a:xfrm>
          <a:prstGeom prst="roundRect">
            <a:avLst>
              <a:gd name="adj" fmla="val 403360"/>
            </a:avLst>
          </a:prstGeom>
          <a:solidFill>
            <a:srgbClr val="437066"/>
          </a:solidFill>
          <a:ln/>
        </p:spPr>
      </p:sp>
      <p:sp>
        <p:nvSpPr>
          <p:cNvPr id="4" name="Text 2"/>
          <p:cNvSpPr/>
          <p:nvPr/>
        </p:nvSpPr>
        <p:spPr>
          <a:xfrm>
            <a:off x="1133951" y="220539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缺乏统一管理面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133951" y="2786539"/>
            <a:ext cx="590454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难以集中监控与治理</a:t>
            </a:r>
            <a:endParaRPr lang="en-US" sz="1750" dirty="0"/>
          </a:p>
        </p:txBody>
      </p:sp>
      <p:sp>
        <p:nvSpPr>
          <p:cNvPr id="6" name="Shape 4"/>
          <p:cNvSpPr/>
          <p:nvPr/>
        </p:nvSpPr>
        <p:spPr>
          <a:xfrm>
            <a:off x="793790" y="3723561"/>
            <a:ext cx="113348" cy="113348"/>
          </a:xfrm>
          <a:prstGeom prst="roundRect">
            <a:avLst>
              <a:gd name="adj" fmla="val 403360"/>
            </a:avLst>
          </a:prstGeom>
          <a:solidFill>
            <a:srgbClr val="437066"/>
          </a:solidFill>
          <a:ln/>
        </p:spPr>
      </p:sp>
      <p:sp>
        <p:nvSpPr>
          <p:cNvPr id="7" name="Text 5"/>
          <p:cNvSpPr/>
          <p:nvPr/>
        </p:nvSpPr>
        <p:spPr>
          <a:xfrm>
            <a:off x="1133951" y="360306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生命周期管理缺失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133951" y="4184213"/>
            <a:ext cx="590454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全靠人工操作维护</a:t>
            </a:r>
            <a:endParaRPr lang="en-US" sz="1750" dirty="0"/>
          </a:p>
        </p:txBody>
      </p:sp>
      <p:sp>
        <p:nvSpPr>
          <p:cNvPr id="9" name="Shape 7"/>
          <p:cNvSpPr/>
          <p:nvPr/>
        </p:nvSpPr>
        <p:spPr>
          <a:xfrm>
            <a:off x="793790" y="5121235"/>
            <a:ext cx="113348" cy="113348"/>
          </a:xfrm>
          <a:prstGeom prst="roundRect">
            <a:avLst>
              <a:gd name="adj" fmla="val 403360"/>
            </a:avLst>
          </a:prstGeom>
          <a:solidFill>
            <a:srgbClr val="437066"/>
          </a:solidFill>
          <a:ln/>
        </p:spPr>
      </p:sp>
      <p:sp>
        <p:nvSpPr>
          <p:cNvPr id="10" name="Text 8"/>
          <p:cNvSpPr/>
          <p:nvPr/>
        </p:nvSpPr>
        <p:spPr>
          <a:xfrm>
            <a:off x="1133951" y="500074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重复配置冗余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133951" y="5581888"/>
            <a:ext cx="590454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多集群部署Argo流程重复</a:t>
            </a:r>
            <a:endParaRPr lang="en-US" sz="1750" dirty="0"/>
          </a:p>
        </p:txBody>
      </p:sp>
      <p:sp>
        <p:nvSpPr>
          <p:cNvPr id="12" name="Shape 10"/>
          <p:cNvSpPr/>
          <p:nvPr/>
        </p:nvSpPr>
        <p:spPr>
          <a:xfrm>
            <a:off x="7599521" y="2325886"/>
            <a:ext cx="113348" cy="113348"/>
          </a:xfrm>
          <a:prstGeom prst="roundRect">
            <a:avLst>
              <a:gd name="adj" fmla="val 403360"/>
            </a:avLst>
          </a:prstGeom>
          <a:solidFill>
            <a:srgbClr val="437066"/>
          </a:solidFill>
          <a:ln/>
        </p:spPr>
      </p:sp>
      <p:sp>
        <p:nvSpPr>
          <p:cNvPr id="13" name="Text 11"/>
          <p:cNvSpPr/>
          <p:nvPr/>
        </p:nvSpPr>
        <p:spPr>
          <a:xfrm>
            <a:off x="7939683" y="220539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多云纳管困难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7939683" y="2786539"/>
            <a:ext cx="590454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无法统一管理多云和自建集群</a:t>
            </a:r>
            <a:endParaRPr lang="en-US" sz="1750" dirty="0"/>
          </a:p>
        </p:txBody>
      </p:sp>
      <p:sp>
        <p:nvSpPr>
          <p:cNvPr id="15" name="Shape 13"/>
          <p:cNvSpPr/>
          <p:nvPr/>
        </p:nvSpPr>
        <p:spPr>
          <a:xfrm>
            <a:off x="7599521" y="3723561"/>
            <a:ext cx="113348" cy="113348"/>
          </a:xfrm>
          <a:prstGeom prst="roundRect">
            <a:avLst>
              <a:gd name="adj" fmla="val 403360"/>
            </a:avLst>
          </a:prstGeom>
          <a:solidFill>
            <a:srgbClr val="437066"/>
          </a:solidFill>
          <a:ln/>
        </p:spPr>
      </p:sp>
      <p:sp>
        <p:nvSpPr>
          <p:cNvPr id="16" name="Text 14"/>
          <p:cNvSpPr/>
          <p:nvPr/>
        </p:nvSpPr>
        <p:spPr>
          <a:xfrm>
            <a:off x="7939683" y="360306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成本线性增长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7939683" y="4184213"/>
            <a:ext cx="590454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运维成本随集群数量上升</a:t>
            </a:r>
            <a:endParaRPr lang="en-US" sz="1750" dirty="0"/>
          </a:p>
        </p:txBody>
      </p:sp>
      <p:sp>
        <p:nvSpPr>
          <p:cNvPr id="18" name="Shape 16"/>
          <p:cNvSpPr/>
          <p:nvPr/>
        </p:nvSpPr>
        <p:spPr>
          <a:xfrm>
            <a:off x="7599521" y="5121235"/>
            <a:ext cx="113348" cy="113348"/>
          </a:xfrm>
          <a:prstGeom prst="roundRect">
            <a:avLst>
              <a:gd name="adj" fmla="val 403360"/>
            </a:avLst>
          </a:prstGeom>
          <a:solidFill>
            <a:srgbClr val="437066"/>
          </a:solidFill>
          <a:ln/>
        </p:spPr>
      </p:sp>
      <p:sp>
        <p:nvSpPr>
          <p:cNvPr id="19" name="Text 17"/>
          <p:cNvSpPr/>
          <p:nvPr/>
        </p:nvSpPr>
        <p:spPr>
          <a:xfrm>
            <a:off x="7939683" y="500074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容灾能力不足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7939683" y="5581888"/>
            <a:ext cx="590454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无法实现跨集群容灾与迁移</a:t>
            </a:r>
            <a:endParaRPr lang="en-US" sz="1750" dirty="0"/>
          </a:p>
        </p:txBody>
      </p:sp>
      <p:sp>
        <p:nvSpPr>
          <p:cNvPr id="21" name="Text 19"/>
          <p:cNvSpPr/>
          <p:nvPr/>
        </p:nvSpPr>
        <p:spPr>
          <a:xfrm>
            <a:off x="1133951" y="6710243"/>
            <a:ext cx="1270265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集群规模扩大后,效率和风险将失控。必须从"集群堆积"转向"集群平台化管理"。</a:t>
            </a:r>
            <a:endParaRPr lang="en-US" sz="1750" dirty="0"/>
          </a:p>
        </p:txBody>
      </p:sp>
      <p:sp>
        <p:nvSpPr>
          <p:cNvPr id="22" name="Shape 20"/>
          <p:cNvSpPr/>
          <p:nvPr/>
        </p:nvSpPr>
        <p:spPr>
          <a:xfrm>
            <a:off x="793790" y="6455093"/>
            <a:ext cx="30480" cy="873204"/>
          </a:xfrm>
          <a:prstGeom prst="rect">
            <a:avLst/>
          </a:prstGeom>
          <a:solidFill>
            <a:srgbClr val="437066"/>
          </a:solidFill>
          <a:ln/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679490"/>
            <a:ext cx="6803708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为什么要做多集群统一管理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93790" y="1841897"/>
            <a:ext cx="6407944" cy="2229445"/>
          </a:xfrm>
          <a:prstGeom prst="roundRect">
            <a:avLst>
              <a:gd name="adj" fmla="val 4273"/>
            </a:avLst>
          </a:prstGeom>
          <a:solidFill>
            <a:srgbClr val="DFECE9"/>
          </a:solidFill>
          <a:ln w="7620">
            <a:solidFill>
              <a:srgbClr val="43706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28224" y="2076331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437066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215390" y="2263378"/>
            <a:ext cx="306110" cy="30611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28224" y="298358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规模增长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1028224" y="3474006"/>
            <a:ext cx="593907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集群数量快速增长,需要统一管控</a:t>
            </a:r>
            <a:endParaRPr lang="en-US" sz="1750" dirty="0"/>
          </a:p>
        </p:txBody>
      </p:sp>
      <p:sp>
        <p:nvSpPr>
          <p:cNvPr id="8" name="Shape 5"/>
          <p:cNvSpPr/>
          <p:nvPr/>
        </p:nvSpPr>
        <p:spPr>
          <a:xfrm>
            <a:off x="7428548" y="1841897"/>
            <a:ext cx="6408063" cy="2229445"/>
          </a:xfrm>
          <a:prstGeom prst="roundRect">
            <a:avLst>
              <a:gd name="adj" fmla="val 4273"/>
            </a:avLst>
          </a:prstGeom>
          <a:solidFill>
            <a:srgbClr val="DFECE9"/>
          </a:solidFill>
          <a:ln w="7620">
            <a:solidFill>
              <a:srgbClr val="437066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7662982" y="2076331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437066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850148" y="2263378"/>
            <a:ext cx="306110" cy="30611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662982" y="298358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跨地域部署</a:t>
            </a:r>
            <a:endParaRPr lang="en-US" sz="2200" dirty="0"/>
          </a:p>
        </p:txBody>
      </p:sp>
      <p:sp>
        <p:nvSpPr>
          <p:cNvPr id="12" name="Text 8"/>
          <p:cNvSpPr/>
          <p:nvPr/>
        </p:nvSpPr>
        <p:spPr>
          <a:xfrm>
            <a:off x="7662982" y="3474006"/>
            <a:ext cx="593919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异地容灾需求提升</a:t>
            </a:r>
            <a:endParaRPr lang="en-US" sz="1750" dirty="0"/>
          </a:p>
        </p:txBody>
      </p:sp>
      <p:sp>
        <p:nvSpPr>
          <p:cNvPr id="13" name="Shape 9"/>
          <p:cNvSpPr/>
          <p:nvPr/>
        </p:nvSpPr>
        <p:spPr>
          <a:xfrm>
            <a:off x="793790" y="4298156"/>
            <a:ext cx="6407944" cy="2229445"/>
          </a:xfrm>
          <a:prstGeom prst="roundRect">
            <a:avLst>
              <a:gd name="adj" fmla="val 4273"/>
            </a:avLst>
          </a:prstGeom>
          <a:solidFill>
            <a:srgbClr val="DFECE9"/>
          </a:solidFill>
          <a:ln w="7620">
            <a:solidFill>
              <a:srgbClr val="437066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1028224" y="4532590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437066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215390" y="4719638"/>
            <a:ext cx="306110" cy="30611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028224" y="543984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应用为中心</a:t>
            </a:r>
            <a:endParaRPr lang="en-US" sz="2200" dirty="0"/>
          </a:p>
        </p:txBody>
      </p:sp>
      <p:sp>
        <p:nvSpPr>
          <p:cNvPr id="17" name="Text 12"/>
          <p:cNvSpPr/>
          <p:nvPr/>
        </p:nvSpPr>
        <p:spPr>
          <a:xfrm>
            <a:off x="1028224" y="5930265"/>
            <a:ext cx="593907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从"集群为中心"转向"应用为中心"</a:t>
            </a:r>
            <a:endParaRPr lang="en-US" sz="1750" dirty="0"/>
          </a:p>
        </p:txBody>
      </p:sp>
      <p:sp>
        <p:nvSpPr>
          <p:cNvPr id="18" name="Shape 13"/>
          <p:cNvSpPr/>
          <p:nvPr/>
        </p:nvSpPr>
        <p:spPr>
          <a:xfrm>
            <a:off x="7428548" y="4298156"/>
            <a:ext cx="6408063" cy="2229445"/>
          </a:xfrm>
          <a:prstGeom prst="roundRect">
            <a:avLst>
              <a:gd name="adj" fmla="val 4273"/>
            </a:avLst>
          </a:prstGeom>
          <a:solidFill>
            <a:srgbClr val="DFECE9"/>
          </a:solidFill>
          <a:ln w="7620">
            <a:solidFill>
              <a:srgbClr val="437066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7662982" y="4532590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437066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850148" y="4719638"/>
            <a:ext cx="306110" cy="30611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7662982" y="543984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混合云趋势</a:t>
            </a:r>
            <a:endParaRPr lang="en-US" sz="2200" dirty="0"/>
          </a:p>
        </p:txBody>
      </p:sp>
      <p:sp>
        <p:nvSpPr>
          <p:cNvPr id="22" name="Text 16"/>
          <p:cNvSpPr/>
          <p:nvPr/>
        </p:nvSpPr>
        <p:spPr>
          <a:xfrm>
            <a:off x="7662982" y="5930265"/>
            <a:ext cx="593919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自建+云上资源统一调度</a:t>
            </a:r>
            <a:endParaRPr lang="en-US" sz="1750" dirty="0"/>
          </a:p>
        </p:txBody>
      </p:sp>
      <p:sp>
        <p:nvSpPr>
          <p:cNvPr id="23" name="Shape 17"/>
          <p:cNvSpPr/>
          <p:nvPr/>
        </p:nvSpPr>
        <p:spPr>
          <a:xfrm>
            <a:off x="793790" y="6896133"/>
            <a:ext cx="13042821" cy="35957"/>
          </a:xfrm>
          <a:prstGeom prst="rect">
            <a:avLst/>
          </a:prstGeom>
          <a:solidFill>
            <a:srgbClr val="2C3249">
              <a:alpha val="50000"/>
            </a:srgbClr>
          </a:solidFill>
          <a:ln/>
        </p:spPr>
      </p:sp>
      <p:sp>
        <p:nvSpPr>
          <p:cNvPr id="24" name="Text 18"/>
          <p:cNvSpPr/>
          <p:nvPr/>
        </p:nvSpPr>
        <p:spPr>
          <a:xfrm>
            <a:off x="793790" y="7187208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这是规模化发展下的必然选择,否则每扩一个集群都要付出指数级的运维成本。</a:t>
            </a:r>
            <a:endParaRPr lang="en-US" sz="1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867495"/>
            <a:ext cx="6236732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多集群平台化的核心目标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3029902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01</a:t>
            </a:r>
            <a:endParaRPr lang="en-US" sz="1750" dirty="0"/>
          </a:p>
        </p:txBody>
      </p:sp>
      <p:sp>
        <p:nvSpPr>
          <p:cNvPr id="4" name="Shape 2"/>
          <p:cNvSpPr/>
          <p:nvPr/>
        </p:nvSpPr>
        <p:spPr>
          <a:xfrm>
            <a:off x="793790" y="3384947"/>
            <a:ext cx="6407944" cy="30480"/>
          </a:xfrm>
          <a:prstGeom prst="rect">
            <a:avLst/>
          </a:prstGeom>
          <a:solidFill>
            <a:srgbClr val="437066"/>
          </a:solidFill>
          <a:ln/>
        </p:spPr>
      </p:sp>
      <p:sp>
        <p:nvSpPr>
          <p:cNvPr id="5" name="Text 3"/>
          <p:cNvSpPr/>
          <p:nvPr/>
        </p:nvSpPr>
        <p:spPr>
          <a:xfrm>
            <a:off x="793790" y="3559254"/>
            <a:ext cx="3967282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集群统一纳管与生命周期自动化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93790" y="4049673"/>
            <a:ext cx="6407944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用CAPI实现集群创建、升级、扩缩容标准化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7428548" y="3029902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02</a:t>
            </a:r>
            <a:endParaRPr lang="en-US" sz="1750" dirty="0"/>
          </a:p>
        </p:txBody>
      </p:sp>
      <p:sp>
        <p:nvSpPr>
          <p:cNvPr id="8" name="Shape 6"/>
          <p:cNvSpPr/>
          <p:nvPr/>
        </p:nvSpPr>
        <p:spPr>
          <a:xfrm>
            <a:off x="7428548" y="3384947"/>
            <a:ext cx="6408063" cy="30480"/>
          </a:xfrm>
          <a:prstGeom prst="rect">
            <a:avLst/>
          </a:prstGeom>
          <a:solidFill>
            <a:srgbClr val="437066"/>
          </a:solidFill>
          <a:ln/>
        </p:spPr>
      </p:sp>
      <p:sp>
        <p:nvSpPr>
          <p:cNvPr id="9" name="Text 7"/>
          <p:cNvSpPr/>
          <p:nvPr/>
        </p:nvSpPr>
        <p:spPr>
          <a:xfrm>
            <a:off x="7428548" y="3559254"/>
            <a:ext cx="3400544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多集群容器统一部署与调度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7428548" y="4049673"/>
            <a:ext cx="640806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用Karmada实现跨集群编排与策略化调度</a:t>
            </a:r>
            <a:endParaRPr lang="en-US" sz="1750" dirty="0"/>
          </a:p>
        </p:txBody>
      </p:sp>
      <p:sp>
        <p:nvSpPr>
          <p:cNvPr id="11" name="Text 9"/>
          <p:cNvSpPr/>
          <p:nvPr/>
        </p:nvSpPr>
        <p:spPr>
          <a:xfrm>
            <a:off x="793790" y="4809411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03</a:t>
            </a:r>
            <a:endParaRPr lang="en-US" sz="1750" dirty="0"/>
          </a:p>
        </p:txBody>
      </p:sp>
      <p:sp>
        <p:nvSpPr>
          <p:cNvPr id="12" name="Shape 10"/>
          <p:cNvSpPr/>
          <p:nvPr/>
        </p:nvSpPr>
        <p:spPr>
          <a:xfrm>
            <a:off x="793790" y="5164455"/>
            <a:ext cx="6407944" cy="30480"/>
          </a:xfrm>
          <a:prstGeom prst="rect">
            <a:avLst/>
          </a:prstGeom>
          <a:solidFill>
            <a:srgbClr val="437066"/>
          </a:solidFill>
          <a:ln/>
        </p:spPr>
      </p:sp>
      <p:sp>
        <p:nvSpPr>
          <p:cNvPr id="13" name="Text 11"/>
          <p:cNvSpPr/>
          <p:nvPr/>
        </p:nvSpPr>
        <p:spPr>
          <a:xfrm>
            <a:off x="793790" y="533876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统一监控与治理能力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793790" y="5829181"/>
            <a:ext cx="6407944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多集群指标、告警、巡检、风险集中展示</a:t>
            </a:r>
            <a:endParaRPr lang="en-US" sz="1750" dirty="0"/>
          </a:p>
        </p:txBody>
      </p:sp>
      <p:sp>
        <p:nvSpPr>
          <p:cNvPr id="15" name="Text 13"/>
          <p:cNvSpPr/>
          <p:nvPr/>
        </p:nvSpPr>
        <p:spPr>
          <a:xfrm>
            <a:off x="7428548" y="4809411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04</a:t>
            </a:r>
            <a:endParaRPr lang="en-US" sz="1750" dirty="0"/>
          </a:p>
        </p:txBody>
      </p:sp>
      <p:sp>
        <p:nvSpPr>
          <p:cNvPr id="16" name="Shape 14"/>
          <p:cNvSpPr/>
          <p:nvPr/>
        </p:nvSpPr>
        <p:spPr>
          <a:xfrm>
            <a:off x="7428548" y="5164455"/>
            <a:ext cx="6408063" cy="30480"/>
          </a:xfrm>
          <a:prstGeom prst="rect">
            <a:avLst/>
          </a:prstGeom>
          <a:solidFill>
            <a:srgbClr val="437066"/>
          </a:solidFill>
          <a:ln/>
        </p:spPr>
      </p:sp>
      <p:sp>
        <p:nvSpPr>
          <p:cNvPr id="17" name="Text 15"/>
          <p:cNvSpPr/>
          <p:nvPr/>
        </p:nvSpPr>
        <p:spPr>
          <a:xfrm>
            <a:off x="7428548" y="533876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支持混合云策略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7428548" y="5829181"/>
            <a:ext cx="640806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云上弹性、自建保底,实现降本与高可用平衡</a:t>
            </a:r>
            <a:endParaRPr lang="en-US" sz="1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35198" y="498991"/>
            <a:ext cx="4537234" cy="5670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450"/>
              </a:lnSpc>
              <a:buNone/>
            </a:pPr>
            <a:r>
              <a:rPr lang="en-US" sz="355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平台总体架构概览</a:t>
            </a:r>
            <a:endParaRPr lang="en-US" sz="35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0205" y="1428988"/>
            <a:ext cx="13249870" cy="571369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581743" y="6059149"/>
            <a:ext cx="3005970" cy="3757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应用层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1581743" y="4736522"/>
            <a:ext cx="3005970" cy="3757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统一管理面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1581743" y="3427255"/>
            <a:ext cx="3005970" cy="3757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编排与生命周期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1581743" y="2104628"/>
            <a:ext cx="3005970" cy="3757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多云接入层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635198" y="7528203"/>
            <a:ext cx="2268617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75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CAPI</a:t>
            </a:r>
            <a:endParaRPr lang="en-US" sz="1750" dirty="0"/>
          </a:p>
        </p:txBody>
      </p:sp>
      <p:sp>
        <p:nvSpPr>
          <p:cNvPr id="9" name="Text 6"/>
          <p:cNvSpPr/>
          <p:nvPr/>
        </p:nvSpPr>
        <p:spPr>
          <a:xfrm>
            <a:off x="635198" y="7993142"/>
            <a:ext cx="3007995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4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集群生命周期管理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4093488" y="7528203"/>
            <a:ext cx="2268617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75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Karmada</a:t>
            </a:r>
            <a:endParaRPr lang="en-US" sz="1750" dirty="0"/>
          </a:p>
        </p:txBody>
      </p:sp>
      <p:sp>
        <p:nvSpPr>
          <p:cNvPr id="11" name="Text 8"/>
          <p:cNvSpPr/>
          <p:nvPr/>
        </p:nvSpPr>
        <p:spPr>
          <a:xfrm>
            <a:off x="4093488" y="7993142"/>
            <a:ext cx="3007995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4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多集群容器编排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7551777" y="7528203"/>
            <a:ext cx="2268617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75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统一管理面</a:t>
            </a:r>
            <a:endParaRPr lang="en-US" sz="1750" dirty="0"/>
          </a:p>
        </p:txBody>
      </p:sp>
      <p:sp>
        <p:nvSpPr>
          <p:cNvPr id="13" name="Text 10"/>
          <p:cNvSpPr/>
          <p:nvPr/>
        </p:nvSpPr>
        <p:spPr>
          <a:xfrm>
            <a:off x="7551777" y="7993142"/>
            <a:ext cx="3007995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4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集中状态与调度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11010067" y="7528203"/>
            <a:ext cx="2268617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75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多云接入</a:t>
            </a:r>
            <a:endParaRPr lang="en-US" sz="1750" dirty="0"/>
          </a:p>
        </p:txBody>
      </p:sp>
      <p:sp>
        <p:nvSpPr>
          <p:cNvPr id="15" name="Text 12"/>
          <p:cNvSpPr/>
          <p:nvPr/>
        </p:nvSpPr>
        <p:spPr>
          <a:xfrm>
            <a:off x="11010067" y="7993142"/>
            <a:ext cx="3007995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4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支持多种云平台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709851"/>
            <a:ext cx="7962662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用CAPI实现集群生命周期自动化</a:t>
            </a:r>
            <a:endParaRPr lang="en-US" sz="44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3790" y="1872258"/>
            <a:ext cx="6521410" cy="90725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20604" y="300632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统一定义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1020604" y="3496747"/>
            <a:ext cx="606778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Cluster CRD配置模板</a:t>
            </a:r>
            <a:endParaRPr lang="en-US" sz="17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1872258"/>
            <a:ext cx="6521410" cy="907256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7542014" y="300632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自动化操作</a:t>
            </a:r>
            <a:endParaRPr lang="en-US" sz="2200" dirty="0"/>
          </a:p>
        </p:txBody>
      </p:sp>
      <p:sp>
        <p:nvSpPr>
          <p:cNvPr id="8" name="Text 4"/>
          <p:cNvSpPr/>
          <p:nvPr/>
        </p:nvSpPr>
        <p:spPr>
          <a:xfrm>
            <a:off x="7542014" y="3496747"/>
            <a:ext cx="606778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创建、扩缩容、升级、删除</a:t>
            </a:r>
            <a:endParaRPr lang="en-US" sz="17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4086463"/>
            <a:ext cx="6521410" cy="907256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020604" y="522053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多云支持</a:t>
            </a:r>
            <a:endParaRPr lang="en-US" sz="2200" dirty="0"/>
          </a:p>
        </p:txBody>
      </p:sp>
      <p:sp>
        <p:nvSpPr>
          <p:cNvPr id="11" name="Text 6"/>
          <p:cNvSpPr/>
          <p:nvPr/>
        </p:nvSpPr>
        <p:spPr>
          <a:xfrm>
            <a:off x="1020604" y="5710952"/>
            <a:ext cx="606778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腾讯云、阿里云、自建</a:t>
            </a:r>
            <a:endParaRPr lang="en-US" sz="175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0" y="4086463"/>
            <a:ext cx="6521410" cy="907256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7542014" y="522053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健康保障</a:t>
            </a:r>
            <a:endParaRPr lang="en-US" sz="2200" dirty="0"/>
          </a:p>
        </p:txBody>
      </p:sp>
      <p:sp>
        <p:nvSpPr>
          <p:cNvPr id="14" name="Text 8"/>
          <p:cNvSpPr/>
          <p:nvPr/>
        </p:nvSpPr>
        <p:spPr>
          <a:xfrm>
            <a:off x="7542014" y="5710952"/>
            <a:ext cx="606778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检测与配置一致性</a:t>
            </a:r>
            <a:endParaRPr lang="en-US" sz="1750" dirty="0"/>
          </a:p>
        </p:txBody>
      </p:sp>
      <p:sp>
        <p:nvSpPr>
          <p:cNvPr id="15" name="Shape 9"/>
          <p:cNvSpPr/>
          <p:nvPr/>
        </p:nvSpPr>
        <p:spPr>
          <a:xfrm>
            <a:off x="793790" y="6555819"/>
            <a:ext cx="13042821" cy="963811"/>
          </a:xfrm>
          <a:prstGeom prst="roundRect">
            <a:avLst>
              <a:gd name="adj" fmla="val 9884"/>
            </a:avLst>
          </a:prstGeom>
          <a:solidFill>
            <a:srgbClr val="CFE2DE"/>
          </a:solidFill>
          <a:ln/>
        </p:spPr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0604" y="6869430"/>
            <a:ext cx="283488" cy="226814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1530906" y="6839307"/>
            <a:ext cx="1207889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000000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核心价值: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 CAPI相当于给集群加了"自动驾驶系统",手动维护升级和扩容的时代结束了</a:t>
            </a:r>
            <a:endParaRPr lang="en-US" sz="1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04493" y="553522"/>
            <a:ext cx="7019568" cy="629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950"/>
              </a:lnSpc>
              <a:buNone/>
            </a:pPr>
            <a:r>
              <a:rPr lang="en-US" sz="395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用Karmada实现多集群统一调度</a:t>
            </a:r>
            <a:endParaRPr lang="en-US" sz="3950" dirty="0"/>
          </a:p>
        </p:txBody>
      </p:sp>
      <p:sp>
        <p:nvSpPr>
          <p:cNvPr id="3" name="Shape 1"/>
          <p:cNvSpPr/>
          <p:nvPr/>
        </p:nvSpPr>
        <p:spPr>
          <a:xfrm>
            <a:off x="704493" y="1710928"/>
            <a:ext cx="7736443" cy="1285994"/>
          </a:xfrm>
          <a:prstGeom prst="roundRect">
            <a:avLst>
              <a:gd name="adj" fmla="val 6575"/>
            </a:avLst>
          </a:prstGeom>
          <a:solidFill>
            <a:srgbClr val="FFFFFF"/>
          </a:solidFill>
          <a:ln w="22860">
            <a:solidFill>
              <a:srgbClr val="43706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27353" y="1733788"/>
            <a:ext cx="805220" cy="1240274"/>
          </a:xfrm>
          <a:prstGeom prst="roundRect">
            <a:avLst>
              <a:gd name="adj" fmla="val 7094"/>
            </a:avLst>
          </a:prstGeom>
          <a:solidFill>
            <a:srgbClr val="437066"/>
          </a:solidFill>
          <a:ln/>
        </p:spPr>
      </p:sp>
      <p:sp>
        <p:nvSpPr>
          <p:cNvPr id="5" name="Text 3"/>
          <p:cNvSpPr/>
          <p:nvPr/>
        </p:nvSpPr>
        <p:spPr>
          <a:xfrm>
            <a:off x="975122" y="2165152"/>
            <a:ext cx="301943" cy="3774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2350" dirty="0">
                <a:solidFill>
                  <a:srgbClr val="FFFFFF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1</a:t>
            </a:r>
            <a:endParaRPr lang="en-US" sz="2350" dirty="0"/>
          </a:p>
        </p:txBody>
      </p:sp>
      <p:sp>
        <p:nvSpPr>
          <p:cNvPr id="6" name="Text 4"/>
          <p:cNvSpPr/>
          <p:nvPr/>
        </p:nvSpPr>
        <p:spPr>
          <a:xfrm>
            <a:off x="1733788" y="1935004"/>
            <a:ext cx="2516386" cy="3145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9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一份配置多集群部署</a:t>
            </a:r>
            <a:endParaRPr lang="en-US" sz="1950" dirty="0"/>
          </a:p>
        </p:txBody>
      </p:sp>
      <p:sp>
        <p:nvSpPr>
          <p:cNvPr id="7" name="Text 5"/>
          <p:cNvSpPr/>
          <p:nvPr/>
        </p:nvSpPr>
        <p:spPr>
          <a:xfrm>
            <a:off x="1733788" y="2450783"/>
            <a:ext cx="6483072" cy="3220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单个YAML文件自动在多个集群部署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704493" y="3198138"/>
            <a:ext cx="7736443" cy="1285994"/>
          </a:xfrm>
          <a:prstGeom prst="roundRect">
            <a:avLst>
              <a:gd name="adj" fmla="val 6575"/>
            </a:avLst>
          </a:prstGeom>
          <a:solidFill>
            <a:srgbClr val="FFFFFF"/>
          </a:solidFill>
          <a:ln w="22860">
            <a:solidFill>
              <a:srgbClr val="43706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27353" y="3220998"/>
            <a:ext cx="805220" cy="1240274"/>
          </a:xfrm>
          <a:prstGeom prst="roundRect">
            <a:avLst>
              <a:gd name="adj" fmla="val 7094"/>
            </a:avLst>
          </a:prstGeom>
          <a:solidFill>
            <a:srgbClr val="437066"/>
          </a:solidFill>
          <a:ln/>
        </p:spPr>
      </p:sp>
      <p:sp>
        <p:nvSpPr>
          <p:cNvPr id="10" name="Text 8"/>
          <p:cNvSpPr/>
          <p:nvPr/>
        </p:nvSpPr>
        <p:spPr>
          <a:xfrm>
            <a:off x="975122" y="3652361"/>
            <a:ext cx="301943" cy="3774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2350" dirty="0">
                <a:solidFill>
                  <a:srgbClr val="FFFFFF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2</a:t>
            </a:r>
            <a:endParaRPr lang="en-US" sz="2350" dirty="0"/>
          </a:p>
        </p:txBody>
      </p:sp>
      <p:sp>
        <p:nvSpPr>
          <p:cNvPr id="11" name="Text 9"/>
          <p:cNvSpPr/>
          <p:nvPr/>
        </p:nvSpPr>
        <p:spPr>
          <a:xfrm>
            <a:off x="1733788" y="3422213"/>
            <a:ext cx="2516386" cy="3145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9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智能发布策略</a:t>
            </a:r>
            <a:endParaRPr lang="en-US" sz="1950" dirty="0"/>
          </a:p>
        </p:txBody>
      </p:sp>
      <p:sp>
        <p:nvSpPr>
          <p:cNvPr id="12" name="Text 10"/>
          <p:cNvSpPr/>
          <p:nvPr/>
        </p:nvSpPr>
        <p:spPr>
          <a:xfrm>
            <a:off x="1733788" y="3937992"/>
            <a:ext cx="6483072" cy="3220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支持跨集群灰度发布、滚动升级</a:t>
            </a:r>
            <a:endParaRPr lang="en-US" sz="1550" dirty="0"/>
          </a:p>
        </p:txBody>
      </p:sp>
      <p:sp>
        <p:nvSpPr>
          <p:cNvPr id="13" name="Shape 11"/>
          <p:cNvSpPr/>
          <p:nvPr/>
        </p:nvSpPr>
        <p:spPr>
          <a:xfrm>
            <a:off x="704493" y="4685348"/>
            <a:ext cx="7736443" cy="1285994"/>
          </a:xfrm>
          <a:prstGeom prst="roundRect">
            <a:avLst>
              <a:gd name="adj" fmla="val 6575"/>
            </a:avLst>
          </a:prstGeom>
          <a:solidFill>
            <a:srgbClr val="FFFFFF"/>
          </a:solidFill>
          <a:ln w="22860">
            <a:solidFill>
              <a:srgbClr val="43706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27353" y="4708208"/>
            <a:ext cx="805220" cy="1240274"/>
          </a:xfrm>
          <a:prstGeom prst="roundRect">
            <a:avLst>
              <a:gd name="adj" fmla="val 7094"/>
            </a:avLst>
          </a:prstGeom>
          <a:solidFill>
            <a:srgbClr val="437066"/>
          </a:solidFill>
          <a:ln/>
        </p:spPr>
      </p:sp>
      <p:sp>
        <p:nvSpPr>
          <p:cNvPr id="15" name="Text 13"/>
          <p:cNvSpPr/>
          <p:nvPr/>
        </p:nvSpPr>
        <p:spPr>
          <a:xfrm>
            <a:off x="975122" y="5139571"/>
            <a:ext cx="301943" cy="3774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2350" dirty="0">
                <a:solidFill>
                  <a:srgbClr val="FFFFFF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3</a:t>
            </a:r>
            <a:endParaRPr lang="en-US" sz="2350" dirty="0"/>
          </a:p>
        </p:txBody>
      </p:sp>
      <p:sp>
        <p:nvSpPr>
          <p:cNvPr id="16" name="Text 14"/>
          <p:cNvSpPr/>
          <p:nvPr/>
        </p:nvSpPr>
        <p:spPr>
          <a:xfrm>
            <a:off x="1733788" y="4909423"/>
            <a:ext cx="2516386" cy="3145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9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策略化调度</a:t>
            </a:r>
            <a:endParaRPr lang="en-US" sz="1950" dirty="0"/>
          </a:p>
        </p:txBody>
      </p:sp>
      <p:sp>
        <p:nvSpPr>
          <p:cNvPr id="17" name="Text 15"/>
          <p:cNvSpPr/>
          <p:nvPr/>
        </p:nvSpPr>
        <p:spPr>
          <a:xfrm>
            <a:off x="1733788" y="5425202"/>
            <a:ext cx="6483072" cy="3220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按资源、地域、成本等策略调度</a:t>
            </a:r>
            <a:endParaRPr lang="en-US" sz="1550" dirty="0"/>
          </a:p>
        </p:txBody>
      </p:sp>
      <p:sp>
        <p:nvSpPr>
          <p:cNvPr id="18" name="Shape 16"/>
          <p:cNvSpPr/>
          <p:nvPr/>
        </p:nvSpPr>
        <p:spPr>
          <a:xfrm>
            <a:off x="704493" y="6172557"/>
            <a:ext cx="7736443" cy="1285994"/>
          </a:xfrm>
          <a:prstGeom prst="roundRect">
            <a:avLst>
              <a:gd name="adj" fmla="val 6575"/>
            </a:avLst>
          </a:prstGeom>
          <a:solidFill>
            <a:srgbClr val="FFFFFF"/>
          </a:solidFill>
          <a:ln w="22860">
            <a:solidFill>
              <a:srgbClr val="43706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27353" y="6195417"/>
            <a:ext cx="805220" cy="1240274"/>
          </a:xfrm>
          <a:prstGeom prst="roundRect">
            <a:avLst>
              <a:gd name="adj" fmla="val 7094"/>
            </a:avLst>
          </a:prstGeom>
          <a:solidFill>
            <a:srgbClr val="437066"/>
          </a:solidFill>
          <a:ln/>
        </p:spPr>
      </p:sp>
      <p:sp>
        <p:nvSpPr>
          <p:cNvPr id="20" name="Text 18"/>
          <p:cNvSpPr/>
          <p:nvPr/>
        </p:nvSpPr>
        <p:spPr>
          <a:xfrm>
            <a:off x="975122" y="6626781"/>
            <a:ext cx="301943" cy="3774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2350" dirty="0">
                <a:solidFill>
                  <a:srgbClr val="FFFFFF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4</a:t>
            </a:r>
            <a:endParaRPr lang="en-US" sz="2350" dirty="0"/>
          </a:p>
        </p:txBody>
      </p:sp>
      <p:sp>
        <p:nvSpPr>
          <p:cNvPr id="21" name="Text 19"/>
          <p:cNvSpPr/>
          <p:nvPr/>
        </p:nvSpPr>
        <p:spPr>
          <a:xfrm>
            <a:off x="1733788" y="6396633"/>
            <a:ext cx="2516386" cy="3145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9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容灾与扩展</a:t>
            </a:r>
            <a:endParaRPr lang="en-US" sz="1950" dirty="0"/>
          </a:p>
        </p:txBody>
      </p:sp>
      <p:sp>
        <p:nvSpPr>
          <p:cNvPr id="22" name="Text 20"/>
          <p:cNvSpPr/>
          <p:nvPr/>
        </p:nvSpPr>
        <p:spPr>
          <a:xfrm>
            <a:off x="1733788" y="6912412"/>
            <a:ext cx="6483072" cy="3220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实现多集群容灾与智能扩展</a:t>
            </a:r>
            <a:endParaRPr lang="en-US" sz="1550" dirty="0"/>
          </a:p>
        </p:txBody>
      </p:sp>
      <p:sp>
        <p:nvSpPr>
          <p:cNvPr id="23" name="Text 21"/>
          <p:cNvSpPr/>
          <p:nvPr/>
        </p:nvSpPr>
        <p:spPr>
          <a:xfrm>
            <a:off x="9241512" y="1710928"/>
            <a:ext cx="3019663" cy="3774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50"/>
              </a:lnSpc>
              <a:buNone/>
            </a:pPr>
            <a:r>
              <a:rPr lang="en-US" sz="235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降维体验</a:t>
            </a:r>
            <a:endParaRPr lang="en-US" sz="2350" dirty="0"/>
          </a:p>
        </p:txBody>
      </p:sp>
      <p:sp>
        <p:nvSpPr>
          <p:cNvPr id="24" name="Text 22"/>
          <p:cNvSpPr/>
          <p:nvPr/>
        </p:nvSpPr>
        <p:spPr>
          <a:xfrm>
            <a:off x="9241512" y="2289572"/>
            <a:ext cx="4692015" cy="64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开发和运维不需要关心底层在哪个集群,平台自动选择最合适的资源运行</a:t>
            </a:r>
            <a:endParaRPr lang="en-US" sz="1550" dirty="0"/>
          </a:p>
        </p:txBody>
      </p:sp>
      <p:sp>
        <p:nvSpPr>
          <p:cNvPr id="25" name="Shape 23"/>
          <p:cNvSpPr/>
          <p:nvPr/>
        </p:nvSpPr>
        <p:spPr>
          <a:xfrm>
            <a:off x="8939570" y="1710928"/>
            <a:ext cx="22860" cy="1222772"/>
          </a:xfrm>
          <a:prstGeom prst="rect">
            <a:avLst/>
          </a:prstGeom>
          <a:solidFill>
            <a:srgbClr val="437066"/>
          </a:solidFill>
          <a:ln/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920234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建设完成后的核心收益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195989"/>
            <a:ext cx="3048000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5850"/>
              </a:lnSpc>
              <a:buNone/>
            </a:pPr>
            <a:r>
              <a:rPr lang="en-US" sz="58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80%+</a:t>
            </a:r>
            <a:endParaRPr lang="en-US" sz="5850" dirty="0"/>
          </a:p>
        </p:txBody>
      </p:sp>
      <p:sp>
        <p:nvSpPr>
          <p:cNvPr id="4" name="Text 2"/>
          <p:cNvSpPr/>
          <p:nvPr/>
        </p:nvSpPr>
        <p:spPr>
          <a:xfrm>
            <a:off x="900113" y="322778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自动化提升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93790" y="3718203"/>
            <a:ext cx="304800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集群全生命周期自动化,效率大幅提升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4125278" y="2195989"/>
            <a:ext cx="3048119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5850"/>
              </a:lnSpc>
              <a:buNone/>
            </a:pPr>
            <a:r>
              <a:rPr lang="en-US" sz="58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60%+</a:t>
            </a:r>
            <a:endParaRPr lang="en-US" sz="5850" dirty="0"/>
          </a:p>
        </p:txBody>
      </p:sp>
      <p:sp>
        <p:nvSpPr>
          <p:cNvPr id="7" name="Text 5"/>
          <p:cNvSpPr/>
          <p:nvPr/>
        </p:nvSpPr>
        <p:spPr>
          <a:xfrm>
            <a:off x="4231719" y="322778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交付提速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125278" y="3718203"/>
            <a:ext cx="304811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应用多集群统一部署,发布效率显著提高</a:t>
            </a:r>
            <a:endParaRPr lang="en-US" sz="1750" dirty="0"/>
          </a:p>
        </p:txBody>
      </p:sp>
      <p:sp>
        <p:nvSpPr>
          <p:cNvPr id="9" name="Text 7"/>
          <p:cNvSpPr/>
          <p:nvPr/>
        </p:nvSpPr>
        <p:spPr>
          <a:xfrm>
            <a:off x="7456884" y="2195989"/>
            <a:ext cx="3048119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5850"/>
              </a:lnSpc>
              <a:buNone/>
            </a:pPr>
            <a:r>
              <a:rPr lang="en-US" sz="58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20%+</a:t>
            </a:r>
            <a:endParaRPr lang="en-US" sz="5850" dirty="0"/>
          </a:p>
        </p:txBody>
      </p:sp>
      <p:sp>
        <p:nvSpPr>
          <p:cNvPr id="10" name="Text 8"/>
          <p:cNvSpPr/>
          <p:nvPr/>
        </p:nvSpPr>
        <p:spPr>
          <a:xfrm>
            <a:off x="7563326" y="322778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资源优化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7456884" y="3718203"/>
            <a:ext cx="304811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统一调度后整体资源利用率提升</a:t>
            </a:r>
            <a:endParaRPr lang="en-US" sz="1750" dirty="0"/>
          </a:p>
        </p:txBody>
      </p:sp>
      <p:sp>
        <p:nvSpPr>
          <p:cNvPr id="12" name="Text 10"/>
          <p:cNvSpPr/>
          <p:nvPr/>
        </p:nvSpPr>
        <p:spPr>
          <a:xfrm>
            <a:off x="10788491" y="2195989"/>
            <a:ext cx="3048119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5850"/>
              </a:lnSpc>
              <a:buNone/>
            </a:pPr>
            <a:r>
              <a:rPr lang="en-US" sz="58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50%+</a:t>
            </a:r>
            <a:endParaRPr lang="en-US" sz="5850" dirty="0"/>
          </a:p>
        </p:txBody>
      </p:sp>
      <p:sp>
        <p:nvSpPr>
          <p:cNvPr id="13" name="Text 11"/>
          <p:cNvSpPr/>
          <p:nvPr/>
        </p:nvSpPr>
        <p:spPr>
          <a:xfrm>
            <a:off x="10894933" y="322778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运维降本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0788491" y="3718203"/>
            <a:ext cx="304811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人工操作减少一半以上</a:t>
            </a:r>
            <a:endParaRPr lang="en-US" sz="1750" dirty="0"/>
          </a:p>
        </p:txBody>
      </p:sp>
      <p:sp>
        <p:nvSpPr>
          <p:cNvPr id="15" name="Shape 13"/>
          <p:cNvSpPr/>
          <p:nvPr/>
        </p:nvSpPr>
        <p:spPr>
          <a:xfrm>
            <a:off x="793790" y="4812539"/>
            <a:ext cx="13042821" cy="35957"/>
          </a:xfrm>
          <a:prstGeom prst="rect">
            <a:avLst/>
          </a:prstGeom>
          <a:solidFill>
            <a:srgbClr val="2C3249">
              <a:alpha val="50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793790" y="5188625"/>
            <a:ext cx="12363688" cy="14176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150"/>
              </a:lnSpc>
              <a:buNone/>
            </a:pPr>
            <a:r>
              <a:rPr lang="en-US" sz="8900" dirty="0">
                <a:solidFill>
                  <a:srgbClr val="437066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更快 · 更稳 · 更省 · 更自动</a:t>
            </a:r>
            <a:endParaRPr lang="en-US" sz="8900" dirty="0"/>
          </a:p>
        </p:txBody>
      </p:sp>
      <p:sp>
        <p:nvSpPr>
          <p:cNvPr id="17" name="Text 15"/>
          <p:cNvSpPr/>
          <p:nvPr/>
        </p:nvSpPr>
        <p:spPr>
          <a:xfrm>
            <a:off x="793790" y="6946463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从"人管集群"到"平台管平台"的体系化升级</a:t>
            </a:r>
            <a:endParaRPr lang="en-US" sz="1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2025-11-03T15:49:34Z</dcterms:created>
  <dcterms:modified xsi:type="dcterms:W3CDTF">2025-11-03T15:49:34Z</dcterms:modified>
</cp:coreProperties>
</file>