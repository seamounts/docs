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Kanit Light"/>
      <p:regular r:id="rId17"/>
    </p:embeddedFont>
    <p:embeddedFont>
      <p:font typeface="Kanit Light"/>
      <p:regular r:id="rId18"/>
    </p:embeddedFont>
    <p:embeddedFont>
      <p:font typeface="Kanit Light"/>
      <p:regular r:id="rId19"/>
    </p:embeddedFont>
    <p:embeddedFont>
      <p:font typeface="Kanit Light"/>
      <p:regular r:id="rId20"/>
    </p:embeddedFont>
    <p:embeddedFont>
      <p:font typeface="Martel Sans"/>
      <p:regular r:id="rId21"/>
    </p:embeddedFont>
    <p:embeddedFont>
      <p:font typeface="Martel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8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43118"/>
            <a:ext cx="90716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混合云多集群容器服务平台建设方案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2055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从单集群运维走向多云统一调度的体系化升级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8235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内部技术汇报 | 平台架构组 | 2025年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5228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当前的集群管理模式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14688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214688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471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独立运维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962400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所有集群独立运维,缺乏协同机制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3214688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3214688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3471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配置重复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962400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应用部署依赖ArgoCD/Argo Flow,配置重复、流程分散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809411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809411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人工操作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557123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自建集群无自动化能力,升级、扩缩容全靠人工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809411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809411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管理复杂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557123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集群数量增长后,效率低、风险高、管理复杂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6508" y="500182"/>
            <a:ext cx="5454968" cy="568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单集群独立管理的核心痛点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636508" y="1432084"/>
            <a:ext cx="409099" cy="409099"/>
          </a:xfrm>
          <a:prstGeom prst="roundRect">
            <a:avLst>
              <a:gd name="adj" fmla="val 1867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27415" y="1494592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管理碎片化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227415" y="1887736"/>
            <a:ext cx="12766477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无统一管理入口,监控与治理碎片化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6508" y="2542223"/>
            <a:ext cx="409099" cy="409099"/>
          </a:xfrm>
          <a:prstGeom prst="roundRect">
            <a:avLst>
              <a:gd name="adj" fmla="val 1867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7415" y="2604730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变更风险高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227415" y="2997875"/>
            <a:ext cx="12766477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集群生命周期靠手工,变更风险高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6508" y="3652361"/>
            <a:ext cx="409099" cy="409099"/>
          </a:xfrm>
          <a:prstGeom prst="roundRect">
            <a:avLst>
              <a:gd name="adj" fmla="val 1867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7415" y="3714869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流程冗余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227415" y="4108013"/>
            <a:ext cx="12766477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多集群部署重复配置,发布流程冗余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6508" y="4762500"/>
            <a:ext cx="409099" cy="409099"/>
          </a:xfrm>
          <a:prstGeom prst="roundRect">
            <a:avLst>
              <a:gd name="adj" fmla="val 1867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7415" y="4825008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纳管困难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227415" y="5218152"/>
            <a:ext cx="12766477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无法统一纳管自建+公有云集群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6508" y="5872639"/>
            <a:ext cx="409099" cy="409099"/>
          </a:xfrm>
          <a:prstGeom prst="roundRect">
            <a:avLst>
              <a:gd name="adj" fmla="val 1867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7415" y="5935147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成本线性增长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227415" y="6328291"/>
            <a:ext cx="12766477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运维成本随集群数量线性增长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6508" y="6982778"/>
            <a:ext cx="409099" cy="409099"/>
          </a:xfrm>
          <a:prstGeom prst="roundRect">
            <a:avLst>
              <a:gd name="adj" fmla="val 1867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27415" y="7045285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缺乏弹性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227415" y="7438430"/>
            <a:ext cx="12766477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不支持跨集群容灾、迁移或弹性调度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4653"/>
            <a:ext cx="13042821" cy="283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单集群模式已触达能力瓶颈</a:t>
            </a:r>
            <a:endParaRPr lang="en-US" sz="8900" dirty="0"/>
          </a:p>
        </p:txBody>
      </p:sp>
      <p:sp>
        <p:nvSpPr>
          <p:cNvPr id="3" name="Shape 1"/>
          <p:cNvSpPr/>
          <p:nvPr/>
        </p:nvSpPr>
        <p:spPr>
          <a:xfrm>
            <a:off x="793790" y="4323636"/>
            <a:ext cx="6407944" cy="1322189"/>
          </a:xfrm>
          <a:prstGeom prst="roundRect">
            <a:avLst>
              <a:gd name="adj" fmla="val 720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45580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统一管控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504848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集群数量快速增长,亟需统一管控能力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4323636"/>
            <a:ext cx="6408063" cy="1322189"/>
          </a:xfrm>
          <a:prstGeom prst="roundRect">
            <a:avLst>
              <a:gd name="adj" fmla="val 720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62982" y="45580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跨地域部署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62982" y="5048488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业务跨地域部署、异地容灾需求日益迫切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5872639"/>
            <a:ext cx="6407944" cy="1322189"/>
          </a:xfrm>
          <a:prstGeom prst="roundRect">
            <a:avLst>
              <a:gd name="adj" fmla="val 720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224" y="61070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应用为中心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8224" y="6597491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管理视角需从"集群为中心"转向"应用为中心"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5872639"/>
            <a:ext cx="6408063" cy="1322189"/>
          </a:xfrm>
          <a:prstGeom prst="roundRect">
            <a:avLst>
              <a:gd name="adj" fmla="val 720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62982" y="61070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混合云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62982" y="6597491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混合云成为主流,必须打通自建+多云资源池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42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平台建设目标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5669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构建统一的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混合云多集群容器服务平台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,实现: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77475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129796"/>
            <a:ext cx="6407944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33041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集群自动化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379452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提升自建集群交付与运维效率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28548" y="277475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3129796"/>
            <a:ext cx="6408063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0" name="Text 8"/>
          <p:cNvSpPr/>
          <p:nvPr/>
        </p:nvSpPr>
        <p:spPr>
          <a:xfrm>
            <a:off x="7428548" y="33041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统一纳管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28548" y="3794522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集中可观测、治理与安全管控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455426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4909304"/>
            <a:ext cx="6407944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4" name="Text 12"/>
          <p:cNvSpPr/>
          <p:nvPr/>
        </p:nvSpPr>
        <p:spPr>
          <a:xfrm>
            <a:off x="793790" y="50836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应用统一调度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93790" y="5574030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跨集群部署、弹性与容灾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428548" y="455426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428548" y="4909304"/>
            <a:ext cx="6408063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8" name="Text 16"/>
          <p:cNvSpPr/>
          <p:nvPr/>
        </p:nvSpPr>
        <p:spPr>
          <a:xfrm>
            <a:off x="7428548" y="50836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资源弹性优化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28548" y="5574030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混合云协同,降本增效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133951" y="6617256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愿景:将所有集群抽象为一个逻辑"大集群",由平台统一调度与管理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93790" y="6362105"/>
            <a:ext cx="30480" cy="873204"/>
          </a:xfrm>
          <a:prstGeom prst="rect">
            <a:avLst/>
          </a:prstGeom>
          <a:solidFill>
            <a:srgbClr val="43706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1954"/>
            <a:ext cx="89560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通过Cluster API实现标准化集群管理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77709"/>
            <a:ext cx="34129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采用CAPI统一集群生命周期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58853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创建、升级、扩缩容、删除全自动化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01051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节点健康自动检测与修复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43249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自建集群支持模板化配置与版本对齐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485448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显著提升集群交付速度,降低人工操作风险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959096" y="3606046"/>
            <a:ext cx="4885015" cy="1544955"/>
          </a:xfrm>
          <a:prstGeom prst="roundRect">
            <a:avLst>
              <a:gd name="adj" fmla="val 6166"/>
            </a:avLst>
          </a:prstGeom>
          <a:solidFill>
            <a:srgbClr val="CFE2D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5910" y="3915728"/>
            <a:ext cx="354330" cy="283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767054" y="38895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核心价值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767054" y="4470678"/>
            <a:ext cx="38502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从"人运维集群"→"声明式自动管理"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2023"/>
            <a:ext cx="73706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构建统一的多集群管理控制面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7339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统一接入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224332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一站式接入自建+公有云集群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5633" y="3087291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7339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可观测性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224332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监控、日志、告警、巡检统一管理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75201" y="3087291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1864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安全治理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676900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统一RBAC、审计、安全策略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75201" y="5346859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51864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全局可视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676900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资源使用、健康状态、风险报告</a:t>
            </a:r>
            <a:endParaRPr lang="en-US" sz="17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2653" y="2104430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15633" y="5346859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9245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价值:集群治理集中化、透明化,运维复杂度大幅下降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5213"/>
            <a:ext cx="84768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通过Karmada实现跨集群应用调度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17621"/>
            <a:ext cx="6521410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0516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一键分发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3542109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应用一键分发至多集群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17621"/>
            <a:ext cx="6521410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42014" y="30516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灰度发布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42014" y="3542109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跨集群灰度发布与版本回滚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131826"/>
            <a:ext cx="6521410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0604" y="52658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容灾切换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20604" y="5756315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故障自动漂移与容灾切换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31826"/>
            <a:ext cx="6521410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42014" y="52658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弹性扩缩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542014" y="5756315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跨集群流量调度与弹性扩缩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1133951" y="6856333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应用无需感知底层集群,平台自动选择最优资源运行</a:t>
            </a:r>
            <a:endParaRPr lang="en-US" sz="1750" dirty="0"/>
          </a:p>
        </p:txBody>
      </p:sp>
      <p:sp>
        <p:nvSpPr>
          <p:cNvPr id="16" name="Shape 10"/>
          <p:cNvSpPr/>
          <p:nvPr/>
        </p:nvSpPr>
        <p:spPr>
          <a:xfrm>
            <a:off x="793790" y="6601182"/>
            <a:ext cx="30480" cy="873204"/>
          </a:xfrm>
          <a:prstGeom prst="rect">
            <a:avLst/>
          </a:prstGeom>
          <a:solidFill>
            <a:srgbClr val="43706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6265" y="468511"/>
            <a:ext cx="6046827" cy="53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混合云协同,实现弹性与成本最优</a:t>
            </a:r>
            <a:endParaRPr lang="en-US" sz="3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265" y="1341477"/>
            <a:ext cx="13437870" cy="58832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07220" y="4321153"/>
            <a:ext cx="1576053" cy="366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自建集群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089997" y="4321153"/>
            <a:ext cx="1576053" cy="366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公有云集群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838524" y="6090345"/>
            <a:ext cx="2865550" cy="293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按需快速伸缩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60063" y="6056765"/>
            <a:ext cx="360839" cy="36083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86423" y="2593071"/>
            <a:ext cx="2930676" cy="293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弹性应对流量高峰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68408" y="2530795"/>
            <a:ext cx="365316" cy="36531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5653" y="6064295"/>
            <a:ext cx="2852525" cy="293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保底资源与高可用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35475" y="6082205"/>
            <a:ext cx="360840" cy="3608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30527" y="2593071"/>
            <a:ext cx="2930676" cy="293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承载核心稳态业务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90905" y="2533033"/>
            <a:ext cx="360839" cy="36083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96265" y="7586543"/>
            <a:ext cx="2129552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核心能力</a:t>
            </a:r>
            <a:endParaRPr lang="en-US" sz="1650" dirty="0"/>
          </a:p>
        </p:txBody>
      </p:sp>
      <p:sp>
        <p:nvSpPr>
          <p:cNvPr id="15" name="Text 8"/>
          <p:cNvSpPr/>
          <p:nvPr/>
        </p:nvSpPr>
        <p:spPr>
          <a:xfrm>
            <a:off x="596265" y="8023027"/>
            <a:ext cx="6511171" cy="27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统一接入多云,避免厂商锁定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596265" y="8355092"/>
            <a:ext cx="6511171" cy="27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跨云调度+成本分析+智能资源分配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7530584" y="7586543"/>
            <a:ext cx="2129552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价值收益</a:t>
            </a:r>
            <a:endParaRPr lang="en-US" sz="1650" dirty="0"/>
          </a:p>
        </p:txBody>
      </p:sp>
      <p:sp>
        <p:nvSpPr>
          <p:cNvPr id="18" name="Text 11"/>
          <p:cNvSpPr/>
          <p:nvPr/>
        </p:nvSpPr>
        <p:spPr>
          <a:xfrm>
            <a:off x="7530584" y="8023027"/>
            <a:ext cx="6511171" cy="27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兼顾稳定性与灵活性,资源成本降低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15%+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540" y="552807"/>
            <a:ext cx="6029444" cy="628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平台建设完成后的核心收益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3540" y="1683425"/>
            <a:ext cx="3117413" cy="663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5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30%+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005840" y="2597944"/>
            <a:ext cx="2512695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风险降低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03540" y="3032522"/>
            <a:ext cx="3117413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集群全生命周期自动化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072176" y="1683425"/>
            <a:ext cx="3117413" cy="663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5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60%+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374475" y="2597944"/>
            <a:ext cx="2512695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交付提速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072176" y="3032522"/>
            <a:ext cx="3117413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多集群应用发布效率提升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440811" y="1683425"/>
            <a:ext cx="3117413" cy="663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5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20%+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7743111" y="2597944"/>
            <a:ext cx="2512695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资源优化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40811" y="3032522"/>
            <a:ext cx="3117413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整体资源利用率提升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809446" y="1683425"/>
            <a:ext cx="3117413" cy="663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5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50%+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11111746" y="2597944"/>
            <a:ext cx="2512695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运维降本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809446" y="3032522"/>
            <a:ext cx="3117413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人工干预减少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756434" y="3856434"/>
            <a:ext cx="3117413" cy="663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5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99.99%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058733" y="4770953"/>
            <a:ext cx="2512695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高可用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5756434" y="5205532"/>
            <a:ext cx="3117413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跨集群容灾,系统连续性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03540" y="5853600"/>
            <a:ext cx="13223319" cy="32742"/>
          </a:xfrm>
          <a:prstGeom prst="rect">
            <a:avLst/>
          </a:prstGeom>
          <a:solidFill>
            <a:srgbClr val="2C3249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03540" y="6187797"/>
            <a:ext cx="8321159" cy="866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800"/>
              </a:lnSpc>
              <a:buNone/>
            </a:pPr>
            <a:r>
              <a:rPr lang="en-US" sz="5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更快、更稳、更省、更自动</a:t>
            </a:r>
            <a:endParaRPr lang="en-US" sz="5450" dirty="0"/>
          </a:p>
        </p:txBody>
      </p:sp>
      <p:sp>
        <p:nvSpPr>
          <p:cNvPr id="20" name="Text 18"/>
          <p:cNvSpPr/>
          <p:nvPr/>
        </p:nvSpPr>
        <p:spPr>
          <a:xfrm>
            <a:off x="703540" y="7356158"/>
            <a:ext cx="1322331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实现从"人管集群"到"平台管平台"的跃迁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2025-11-03T16:30:36Z</dcterms:created>
  <dcterms:modified xsi:type="dcterms:W3CDTF">2025-11-03T16:30:36Z</dcterms:modified>
</cp:coreProperties>
</file>